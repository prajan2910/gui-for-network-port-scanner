
<file path=[Content_Types].xml><?xml version="1.0" encoding="utf-8"?>
<Types xmlns="http://schemas.openxmlformats.org/package/2006/content-types">
  <Default Extension="jfif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7" r:id="rId4"/>
  </p:sldMasterIdLst>
  <p:notesMasterIdLst>
    <p:notesMasterId r:id="rId16"/>
  </p:notesMasterIdLst>
  <p:handoutMasterIdLst>
    <p:handoutMasterId r:id="rId17"/>
  </p:handoutMasterIdLst>
  <p:sldIdLst>
    <p:sldId id="338" r:id="rId5"/>
    <p:sldId id="327" r:id="rId6"/>
    <p:sldId id="315" r:id="rId7"/>
    <p:sldId id="329" r:id="rId8"/>
    <p:sldId id="302" r:id="rId9"/>
    <p:sldId id="339" r:id="rId10"/>
    <p:sldId id="345" r:id="rId11"/>
    <p:sldId id="346" r:id="rId12"/>
    <p:sldId id="341" r:id="rId13"/>
    <p:sldId id="342" r:id="rId14"/>
    <p:sldId id="304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68" userDrawn="1">
          <p15:clr>
            <a:srgbClr val="A4A3A4"/>
          </p15:clr>
        </p15:guide>
        <p15:guide id="2" pos="408" userDrawn="1">
          <p15:clr>
            <a:srgbClr val="A4A3A4"/>
          </p15:clr>
        </p15:guide>
        <p15:guide id="3" orient="horz" pos="3912" userDrawn="1">
          <p15:clr>
            <a:srgbClr val="A4A3A4"/>
          </p15:clr>
        </p15:guide>
        <p15:guide id="4" pos="7272" userDrawn="1">
          <p15:clr>
            <a:srgbClr val="A4A3A4"/>
          </p15:clr>
        </p15:guide>
        <p15:guide id="5" orient="horz" pos="165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D67BBC5-90FB-0B4C-ED85-F72C7BA7CE4A}" v="1" dt="2022-06-06T12:10:26.221"/>
  </p1510:revLst>
</p1510:revInfo>
</file>

<file path=ppt/tableStyles.xml><?xml version="1.0" encoding="utf-8"?>
<a:tblStyleLst xmlns:a="http://schemas.openxmlformats.org/drawingml/2006/main" def="{6E25E649-3F16-4E02-A733-19D2CDBF48F0}"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85" autoAdjust="0"/>
    <p:restoredTop sz="95033" autoAdjust="0"/>
  </p:normalViewPr>
  <p:slideViewPr>
    <p:cSldViewPr snapToGrid="0">
      <p:cViewPr varScale="1">
        <p:scale>
          <a:sx n="82" d="100"/>
          <a:sy n="82" d="100"/>
        </p:scale>
        <p:origin x="624" y="72"/>
      </p:cViewPr>
      <p:guideLst>
        <p:guide orient="horz" pos="1968"/>
        <p:guide pos="408"/>
        <p:guide orient="horz" pos="3912"/>
        <p:guide pos="7272"/>
        <p:guide orient="horz" pos="1656"/>
      </p:guideLst>
    </p:cSldViewPr>
  </p:slideViewPr>
  <p:outlineViewPr>
    <p:cViewPr>
      <p:scale>
        <a:sx n="33" d="100"/>
        <a:sy n="33" d="100"/>
      </p:scale>
      <p:origin x="0" y="-4886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10" d="100"/>
        <a:sy n="110" d="100"/>
      </p:scale>
      <p:origin x="0" y="-965"/>
    </p:cViewPr>
  </p:sorterViewPr>
  <p:notesViewPr>
    <p:cSldViewPr snapToGrid="0">
      <p:cViewPr varScale="1">
        <p:scale>
          <a:sx n="60" d="100"/>
          <a:sy n="60" d="100"/>
        </p:scale>
        <p:origin x="3187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5/10/relationships/revisionInfo" Target="revisionInfo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1077DB-935E-4A0A-947A-D283B9F9F452}" type="datetimeFigureOut">
              <a:rPr lang="en-US" smtClean="0"/>
              <a:t>4/8/2026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2C0B10-7CAE-41E4-AB02-7E8B1FF2B89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9EC30E-1A71-4188-9BE7-E2A64929A436}" type="datetimeFigureOut">
              <a:rPr lang="en-US" noProof="0" smtClean="0"/>
              <a:t>4/8/2026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30193B-564F-4854-8A52-728F3FB19C85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03816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0193B-564F-4854-8A52-728F3FB19C85}" type="slidenum">
              <a:rPr lang="en-US" noProof="0" smtClean="0"/>
              <a:t>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079122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0022032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0528460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7669602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  <a:t>4/8/2026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7459935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4/8/2026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3239096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4/8/2026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1965439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4/8/2026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6897335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4/8/2026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9620618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4/8/2026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0304514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8109717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22563127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8478255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26250616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3561930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t>4/8/2026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7920135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619384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FDA3C6F-5F6A-4D64-8BFE-AFFF58B1A0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12871" y="4141999"/>
            <a:ext cx="4220845" cy="8614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>
                <a:solidFill>
                  <a:schemeClr val="accent4"/>
                </a:solidFill>
                <a:latin typeface="+mj-lt"/>
              </a:defRPr>
            </a:lvl1pPr>
            <a:lvl2pPr>
              <a:buNone/>
              <a:defRPr sz="20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" name="Hexagon 14">
            <a:extLst>
              <a:ext uri="{FF2B5EF4-FFF2-40B4-BE49-F238E27FC236}">
                <a16:creationId xmlns:a16="http://schemas.microsoft.com/office/drawing/2014/main" id="{AC159667-7690-4645-986D-BE501438455F}"/>
              </a:ext>
            </a:extLst>
          </p:cNvPr>
          <p:cNvSpPr/>
          <p:nvPr userDrawn="1"/>
        </p:nvSpPr>
        <p:spPr>
          <a:xfrm>
            <a:off x="740309" y="1382809"/>
            <a:ext cx="1229566" cy="1059971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54667EE4-E77F-453B-BF8B-B1EE2AE80715}"/>
              </a:ext>
            </a:extLst>
          </p:cNvPr>
          <p:cNvSpPr/>
          <p:nvPr userDrawn="1"/>
        </p:nvSpPr>
        <p:spPr>
          <a:xfrm>
            <a:off x="3755031" y="1194620"/>
            <a:ext cx="1666162" cy="1436347"/>
          </a:xfrm>
          <a:prstGeom prst="hexagon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Hexagon 16">
            <a:extLst>
              <a:ext uri="{FF2B5EF4-FFF2-40B4-BE49-F238E27FC236}">
                <a16:creationId xmlns:a16="http://schemas.microsoft.com/office/drawing/2014/main" id="{FC050232-A229-425F-BFC8-D50374F2D171}"/>
              </a:ext>
            </a:extLst>
          </p:cNvPr>
          <p:cNvSpPr/>
          <p:nvPr userDrawn="1"/>
        </p:nvSpPr>
        <p:spPr>
          <a:xfrm>
            <a:off x="3804994" y="5233183"/>
            <a:ext cx="718261" cy="61919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53E4EBC7-340A-43A5-9E23-4B73A6F700B6}"/>
              </a:ext>
            </a:extLst>
          </p:cNvPr>
          <p:cNvSpPr/>
          <p:nvPr userDrawn="1"/>
        </p:nvSpPr>
        <p:spPr>
          <a:xfrm>
            <a:off x="1837838" y="1101306"/>
            <a:ext cx="651613" cy="561736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1ED0E31A-F0A3-481D-8D9C-E3C4531FD21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71515" y="1914044"/>
            <a:ext cx="3993624" cy="3617848"/>
          </a:xfrm>
          <a:custGeom>
            <a:avLst/>
            <a:gdLst>
              <a:gd name="connsiteX0" fmla="*/ 1223161 w 3993624"/>
              <a:gd name="connsiteY0" fmla="*/ 2354088 h 3617848"/>
              <a:gd name="connsiteX1" fmla="*/ 2057242 w 3993624"/>
              <a:gd name="connsiteY1" fmla="*/ 2354088 h 3617848"/>
              <a:gd name="connsiteX2" fmla="*/ 2373182 w 3993624"/>
              <a:gd name="connsiteY2" fmla="*/ 2985968 h 3617848"/>
              <a:gd name="connsiteX3" fmla="*/ 2057242 w 3993624"/>
              <a:gd name="connsiteY3" fmla="*/ 3617848 h 3617848"/>
              <a:gd name="connsiteX4" fmla="*/ 1223161 w 3993624"/>
              <a:gd name="connsiteY4" fmla="*/ 3617848 h 3617848"/>
              <a:gd name="connsiteX5" fmla="*/ 907221 w 3993624"/>
              <a:gd name="connsiteY5" fmla="*/ 2985968 h 3617848"/>
              <a:gd name="connsiteX6" fmla="*/ 2569631 w 3993624"/>
              <a:gd name="connsiteY6" fmla="*/ 1425984 h 3617848"/>
              <a:gd name="connsiteX7" fmla="*/ 3602417 w 3993624"/>
              <a:gd name="connsiteY7" fmla="*/ 1425984 h 3617848"/>
              <a:gd name="connsiteX8" fmla="*/ 3993624 w 3993624"/>
              <a:gd name="connsiteY8" fmla="*/ 2208398 h 3617848"/>
              <a:gd name="connsiteX9" fmla="*/ 3602417 w 3993624"/>
              <a:gd name="connsiteY9" fmla="*/ 2990812 h 3617848"/>
              <a:gd name="connsiteX10" fmla="*/ 2569631 w 3993624"/>
              <a:gd name="connsiteY10" fmla="*/ 2990812 h 3617848"/>
              <a:gd name="connsiteX11" fmla="*/ 2178424 w 3993624"/>
              <a:gd name="connsiteY11" fmla="*/ 2208398 h 3617848"/>
              <a:gd name="connsiteX12" fmla="*/ 551406 w 3993624"/>
              <a:gd name="connsiteY12" fmla="*/ 0 h 3617848"/>
              <a:gd name="connsiteX13" fmla="*/ 2007117 w 3993624"/>
              <a:gd name="connsiteY13" fmla="*/ 0 h 3617848"/>
              <a:gd name="connsiteX14" fmla="*/ 2558523 w 3993624"/>
              <a:gd name="connsiteY14" fmla="*/ 1102811 h 3617848"/>
              <a:gd name="connsiteX15" fmla="*/ 2007117 w 3993624"/>
              <a:gd name="connsiteY15" fmla="*/ 2205622 h 3617848"/>
              <a:gd name="connsiteX16" fmla="*/ 551406 w 3993624"/>
              <a:gd name="connsiteY16" fmla="*/ 2205622 h 3617848"/>
              <a:gd name="connsiteX17" fmla="*/ 0 w 3993624"/>
              <a:gd name="connsiteY17" fmla="*/ 1102811 h 3617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993624" h="3617848">
                <a:moveTo>
                  <a:pt x="1223161" y="2354088"/>
                </a:moveTo>
                <a:lnTo>
                  <a:pt x="2057242" y="2354088"/>
                </a:lnTo>
                <a:lnTo>
                  <a:pt x="2373182" y="2985968"/>
                </a:lnTo>
                <a:lnTo>
                  <a:pt x="2057242" y="3617848"/>
                </a:lnTo>
                <a:lnTo>
                  <a:pt x="1223161" y="3617848"/>
                </a:lnTo>
                <a:lnTo>
                  <a:pt x="907221" y="2985968"/>
                </a:lnTo>
                <a:close/>
                <a:moveTo>
                  <a:pt x="2569631" y="1425984"/>
                </a:moveTo>
                <a:lnTo>
                  <a:pt x="3602417" y="1425984"/>
                </a:lnTo>
                <a:lnTo>
                  <a:pt x="3993624" y="2208398"/>
                </a:lnTo>
                <a:lnTo>
                  <a:pt x="3602417" y="2990812"/>
                </a:lnTo>
                <a:lnTo>
                  <a:pt x="2569631" y="2990812"/>
                </a:lnTo>
                <a:lnTo>
                  <a:pt x="2178424" y="2208398"/>
                </a:lnTo>
                <a:close/>
                <a:moveTo>
                  <a:pt x="551406" y="0"/>
                </a:moveTo>
                <a:lnTo>
                  <a:pt x="2007117" y="0"/>
                </a:lnTo>
                <a:lnTo>
                  <a:pt x="2558523" y="1102811"/>
                </a:lnTo>
                <a:lnTo>
                  <a:pt x="2007117" y="2205622"/>
                </a:lnTo>
                <a:lnTo>
                  <a:pt x="551406" y="2205622"/>
                </a:lnTo>
                <a:lnTo>
                  <a:pt x="0" y="1102811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E68100-C56F-4515-A4FD-3F301797E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2871" y="2050552"/>
            <a:ext cx="4998720" cy="1748983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091946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24FAA9D0-7C9C-4043-9931-A15819ABB9B5}"/>
              </a:ext>
            </a:extLst>
          </p:cNvPr>
          <p:cNvSpPr/>
          <p:nvPr userDrawn="1"/>
        </p:nvSpPr>
        <p:spPr>
          <a:xfrm>
            <a:off x="7362825" y="443263"/>
            <a:ext cx="361950" cy="36195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232AB2D-843E-4B5F-8793-6A263DA356BB}"/>
              </a:ext>
            </a:extLst>
          </p:cNvPr>
          <p:cNvSpPr/>
          <p:nvPr userDrawn="1"/>
        </p:nvSpPr>
        <p:spPr>
          <a:xfrm>
            <a:off x="11007246" y="5605994"/>
            <a:ext cx="654227" cy="65422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A75A12B-C399-4072-BD69-D872D2C2AD1F}"/>
              </a:ext>
            </a:extLst>
          </p:cNvPr>
          <p:cNvSpPr/>
          <p:nvPr userDrawn="1"/>
        </p:nvSpPr>
        <p:spPr>
          <a:xfrm>
            <a:off x="10683791" y="6132439"/>
            <a:ext cx="251152" cy="251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423AE48B-50E9-4BEA-B66A-B2D2B9CCFE9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33416" y="624239"/>
            <a:ext cx="5855754" cy="5631571"/>
          </a:xfrm>
          <a:custGeom>
            <a:avLst/>
            <a:gdLst>
              <a:gd name="connsiteX0" fmla="*/ 3433020 w 5855754"/>
              <a:gd name="connsiteY0" fmla="*/ 786103 h 5631571"/>
              <a:gd name="connsiteX1" fmla="*/ 5855754 w 5855754"/>
              <a:gd name="connsiteY1" fmla="*/ 3208837 h 5631571"/>
              <a:gd name="connsiteX2" fmla="*/ 3433020 w 5855754"/>
              <a:gd name="connsiteY2" fmla="*/ 5631571 h 5631571"/>
              <a:gd name="connsiteX3" fmla="*/ 1010286 w 5855754"/>
              <a:gd name="connsiteY3" fmla="*/ 3208837 h 5631571"/>
              <a:gd name="connsiteX4" fmla="*/ 3433020 w 5855754"/>
              <a:gd name="connsiteY4" fmla="*/ 786103 h 5631571"/>
              <a:gd name="connsiteX5" fmla="*/ 828675 w 5855754"/>
              <a:gd name="connsiteY5" fmla="*/ 0 h 5631571"/>
              <a:gd name="connsiteX6" fmla="*/ 1657350 w 5855754"/>
              <a:gd name="connsiteY6" fmla="*/ 828675 h 5631571"/>
              <a:gd name="connsiteX7" fmla="*/ 828675 w 5855754"/>
              <a:gd name="connsiteY7" fmla="*/ 1657350 h 5631571"/>
              <a:gd name="connsiteX8" fmla="*/ 0 w 5855754"/>
              <a:gd name="connsiteY8" fmla="*/ 828675 h 5631571"/>
              <a:gd name="connsiteX9" fmla="*/ 828675 w 5855754"/>
              <a:gd name="connsiteY9" fmla="*/ 0 h 5631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55754" h="5631571">
                <a:moveTo>
                  <a:pt x="3433020" y="786103"/>
                </a:moveTo>
                <a:cubicBezTo>
                  <a:pt x="4771059" y="786103"/>
                  <a:pt x="5855754" y="1870798"/>
                  <a:pt x="5855754" y="3208837"/>
                </a:cubicBezTo>
                <a:cubicBezTo>
                  <a:pt x="5855754" y="4546876"/>
                  <a:pt x="4771059" y="5631571"/>
                  <a:pt x="3433020" y="5631571"/>
                </a:cubicBezTo>
                <a:cubicBezTo>
                  <a:pt x="2094981" y="5631571"/>
                  <a:pt x="1010286" y="4546876"/>
                  <a:pt x="1010286" y="3208837"/>
                </a:cubicBezTo>
                <a:cubicBezTo>
                  <a:pt x="1010286" y="1870798"/>
                  <a:pt x="2094981" y="786103"/>
                  <a:pt x="3433020" y="786103"/>
                </a:cubicBezTo>
                <a:close/>
                <a:moveTo>
                  <a:pt x="828675" y="0"/>
                </a:moveTo>
                <a:cubicBezTo>
                  <a:pt x="1286340" y="0"/>
                  <a:pt x="1657350" y="371010"/>
                  <a:pt x="1657350" y="828675"/>
                </a:cubicBezTo>
                <a:cubicBezTo>
                  <a:pt x="1657350" y="1286340"/>
                  <a:pt x="1286340" y="1657350"/>
                  <a:pt x="828675" y="1657350"/>
                </a:cubicBezTo>
                <a:cubicBezTo>
                  <a:pt x="371010" y="1657350"/>
                  <a:pt x="0" y="1286340"/>
                  <a:pt x="0" y="828675"/>
                </a:cubicBezTo>
                <a:cubicBezTo>
                  <a:pt x="0" y="371010"/>
                  <a:pt x="371010" y="0"/>
                  <a:pt x="828675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282D3E62-6D1A-4E9D-BE54-2EED9BF429A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EB8F0E5-B89F-48AD-87BD-534EA9463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1395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6">
            <a:extLst>
              <a:ext uri="{FF2B5EF4-FFF2-40B4-BE49-F238E27FC236}">
                <a16:creationId xmlns:a16="http://schemas.microsoft.com/office/drawing/2014/main" id="{4AA38E8C-A334-4183-8ABC-112B8517F4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80624A4-5116-4AAF-8C31-C25D1DB16FEC}"/>
              </a:ext>
            </a:extLst>
          </p:cNvPr>
          <p:cNvSpPr/>
          <p:nvPr userDrawn="1"/>
        </p:nvSpPr>
        <p:spPr>
          <a:xfrm>
            <a:off x="9354457" y="5363987"/>
            <a:ext cx="457200" cy="457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D07EC8A-6024-4DEA-9C4D-AE4228E17854}"/>
              </a:ext>
            </a:extLst>
          </p:cNvPr>
          <p:cNvSpPr/>
          <p:nvPr userDrawn="1"/>
        </p:nvSpPr>
        <p:spPr>
          <a:xfrm>
            <a:off x="6692791" y="1699889"/>
            <a:ext cx="319749" cy="3197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1C8FAEF-DF78-48CC-AEEF-F9B802055C05}"/>
              </a:ext>
            </a:extLst>
          </p:cNvPr>
          <p:cNvSpPr/>
          <p:nvPr userDrawn="1"/>
        </p:nvSpPr>
        <p:spPr>
          <a:xfrm>
            <a:off x="9354457" y="5897738"/>
            <a:ext cx="179977" cy="17997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66F72D6-AEEE-4CF3-8136-F6782F1E489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90227" y="786181"/>
            <a:ext cx="4441372" cy="5393036"/>
          </a:xfrm>
          <a:custGeom>
            <a:avLst/>
            <a:gdLst>
              <a:gd name="connsiteX0" fmla="*/ 0 w 4441372"/>
              <a:gd name="connsiteY0" fmla="*/ 3188969 h 5393036"/>
              <a:gd name="connsiteX1" fmla="*/ 2173516 w 4441372"/>
              <a:gd name="connsiteY1" fmla="*/ 3188969 h 5393036"/>
              <a:gd name="connsiteX2" fmla="*/ 2173516 w 4441372"/>
              <a:gd name="connsiteY2" fmla="*/ 5393036 h 5393036"/>
              <a:gd name="connsiteX3" fmla="*/ 0 w 4441372"/>
              <a:gd name="connsiteY3" fmla="*/ 5393036 h 5393036"/>
              <a:gd name="connsiteX4" fmla="*/ 2267856 w 4441372"/>
              <a:gd name="connsiteY4" fmla="*/ 2293018 h 5393036"/>
              <a:gd name="connsiteX5" fmla="*/ 4441372 w 4441372"/>
              <a:gd name="connsiteY5" fmla="*/ 2293018 h 5393036"/>
              <a:gd name="connsiteX6" fmla="*/ 4441372 w 4441372"/>
              <a:gd name="connsiteY6" fmla="*/ 4497085 h 5393036"/>
              <a:gd name="connsiteX7" fmla="*/ 2267856 w 4441372"/>
              <a:gd name="connsiteY7" fmla="*/ 4497085 h 5393036"/>
              <a:gd name="connsiteX8" fmla="*/ 0 w 4441372"/>
              <a:gd name="connsiteY8" fmla="*/ 906837 h 5393036"/>
              <a:gd name="connsiteX9" fmla="*/ 2173516 w 4441372"/>
              <a:gd name="connsiteY9" fmla="*/ 906837 h 5393036"/>
              <a:gd name="connsiteX10" fmla="*/ 2173516 w 4441372"/>
              <a:gd name="connsiteY10" fmla="*/ 3110904 h 5393036"/>
              <a:gd name="connsiteX11" fmla="*/ 0 w 4441372"/>
              <a:gd name="connsiteY11" fmla="*/ 3110904 h 5393036"/>
              <a:gd name="connsiteX12" fmla="*/ 2267856 w 4441372"/>
              <a:gd name="connsiteY12" fmla="*/ 0 h 5393036"/>
              <a:gd name="connsiteX13" fmla="*/ 4441372 w 4441372"/>
              <a:gd name="connsiteY13" fmla="*/ 0 h 5393036"/>
              <a:gd name="connsiteX14" fmla="*/ 4441372 w 4441372"/>
              <a:gd name="connsiteY14" fmla="*/ 2204067 h 5393036"/>
              <a:gd name="connsiteX15" fmla="*/ 2267856 w 4441372"/>
              <a:gd name="connsiteY15" fmla="*/ 2204067 h 5393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441372" h="5393036">
                <a:moveTo>
                  <a:pt x="0" y="3188969"/>
                </a:moveTo>
                <a:lnTo>
                  <a:pt x="2173516" y="3188969"/>
                </a:lnTo>
                <a:lnTo>
                  <a:pt x="2173516" y="5393036"/>
                </a:lnTo>
                <a:lnTo>
                  <a:pt x="0" y="5393036"/>
                </a:lnTo>
                <a:close/>
                <a:moveTo>
                  <a:pt x="2267856" y="2293018"/>
                </a:moveTo>
                <a:lnTo>
                  <a:pt x="4441372" y="2293018"/>
                </a:lnTo>
                <a:lnTo>
                  <a:pt x="4441372" y="4497085"/>
                </a:lnTo>
                <a:lnTo>
                  <a:pt x="2267856" y="4497085"/>
                </a:lnTo>
                <a:close/>
                <a:moveTo>
                  <a:pt x="0" y="906837"/>
                </a:moveTo>
                <a:lnTo>
                  <a:pt x="2173516" y="906837"/>
                </a:lnTo>
                <a:lnTo>
                  <a:pt x="2173516" y="3110904"/>
                </a:lnTo>
                <a:lnTo>
                  <a:pt x="0" y="3110904"/>
                </a:lnTo>
                <a:close/>
                <a:moveTo>
                  <a:pt x="2267856" y="0"/>
                </a:moveTo>
                <a:lnTo>
                  <a:pt x="4441372" y="0"/>
                </a:lnTo>
                <a:lnTo>
                  <a:pt x="4441372" y="2204067"/>
                </a:lnTo>
                <a:lnTo>
                  <a:pt x="2267856" y="2204067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9DADC7-BE21-4434-A6E4-BAF809005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12548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04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1416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CF421413-161E-4B36-B693-FB38DF14EDA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53508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B5D207AE-9C9C-410A-9F31-2402BAD6DDFF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11592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DE3344FC-C4DE-481F-9C31-667EDD563C4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602465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59094D7D-3613-49C1-BB58-A65B41A9738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84005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9FE87B7-32A4-4C7F-9AAF-37688E6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anchor="ctr"/>
          <a:lstStyle/>
          <a:p>
            <a:pPr algn="ctr"/>
            <a:r>
              <a:rPr lang="en-US" sz="4800" b="1">
                <a:solidFill>
                  <a:schemeClr val="tx1"/>
                </a:solidFill>
              </a:rPr>
              <a:t>Click to edit Master title style</a:t>
            </a:r>
            <a:endParaRPr lang="en-US" sz="4800" b="1" dirty="0">
              <a:solidFill>
                <a:schemeClr val="tx1"/>
              </a:solidFill>
            </a:endParaRPr>
          </a:p>
        </p:txBody>
      </p:sp>
      <p:sp>
        <p:nvSpPr>
          <p:cNvPr id="9" name="Hexagon 8">
            <a:extLst>
              <a:ext uri="{FF2B5EF4-FFF2-40B4-BE49-F238E27FC236}">
                <a16:creationId xmlns:a16="http://schemas.microsoft.com/office/drawing/2014/main" id="{476CA45F-A66A-4AD8-A004-10DB55A5D7B2}"/>
              </a:ext>
            </a:extLst>
          </p:cNvPr>
          <p:cNvSpPr/>
          <p:nvPr userDrawn="1"/>
        </p:nvSpPr>
        <p:spPr>
          <a:xfrm>
            <a:off x="546669" y="3467555"/>
            <a:ext cx="458268" cy="395059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Hexagon 9">
            <a:extLst>
              <a:ext uri="{FF2B5EF4-FFF2-40B4-BE49-F238E27FC236}">
                <a16:creationId xmlns:a16="http://schemas.microsoft.com/office/drawing/2014/main" id="{27A66A3D-2437-4015-9F5F-380C4D23D83C}"/>
              </a:ext>
            </a:extLst>
          </p:cNvPr>
          <p:cNvSpPr/>
          <p:nvPr userDrawn="1"/>
        </p:nvSpPr>
        <p:spPr>
          <a:xfrm>
            <a:off x="11113337" y="2394722"/>
            <a:ext cx="358391" cy="308958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Hexagon 10">
            <a:extLst>
              <a:ext uri="{FF2B5EF4-FFF2-40B4-BE49-F238E27FC236}">
                <a16:creationId xmlns:a16="http://schemas.microsoft.com/office/drawing/2014/main" id="{FFB14F3B-E7EF-4546-8D74-71FFB45C77C0}"/>
              </a:ext>
            </a:extLst>
          </p:cNvPr>
          <p:cNvSpPr/>
          <p:nvPr userDrawn="1"/>
        </p:nvSpPr>
        <p:spPr>
          <a:xfrm>
            <a:off x="10882649" y="2202202"/>
            <a:ext cx="230688" cy="19886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591F943B-ED0D-49A1-844A-E23BA9A487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6668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9AC6B9A8-053C-4828-B705-901C6018F3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6692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BBA6FD52-E179-41F8-AE78-9AF3D65F28B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89482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C49A82AB-D328-4DB0-841B-186884119E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8948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84E23D5D-9866-48F9-8E08-DD2DBE4C4E3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32296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E671C9E6-A1A5-4EE5-8642-94AA7635DB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2920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2">
            <a:extLst>
              <a:ext uri="{FF2B5EF4-FFF2-40B4-BE49-F238E27FC236}">
                <a16:creationId xmlns:a16="http://schemas.microsoft.com/office/drawing/2014/main" id="{DF6BB5C9-B678-435A-830F-4C10EB1A957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275110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2">
            <a:extLst>
              <a:ext uri="{FF2B5EF4-FFF2-40B4-BE49-F238E27FC236}">
                <a16:creationId xmlns:a16="http://schemas.microsoft.com/office/drawing/2014/main" id="{1861EC87-A9E2-4FC3-B8BC-06C520B8A17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7511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2">
            <a:extLst>
              <a:ext uri="{FF2B5EF4-FFF2-40B4-BE49-F238E27FC236}">
                <a16:creationId xmlns:a16="http://schemas.microsoft.com/office/drawing/2014/main" id="{FC3EDE91-631F-4947-94DC-557685FD23E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517923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2">
            <a:extLst>
              <a:ext uri="{FF2B5EF4-FFF2-40B4-BE49-F238E27FC236}">
                <a16:creationId xmlns:a16="http://schemas.microsoft.com/office/drawing/2014/main" id="{8FDDBEF4-1329-49DF-B043-D51B34F5EE3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51792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FBDB3FD3-4F52-4E28-B639-5F73070E47D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78337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58848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Rectangle 1" descr="Tall office building looking up">
            <a:extLst>
              <a:ext uri="{FF2B5EF4-FFF2-40B4-BE49-F238E27FC236}">
                <a16:creationId xmlns:a16="http://schemas.microsoft.com/office/drawing/2014/main" id="{AF7FA146-2A75-4EA7-A9AD-EBCE6F17FB42}"/>
              </a:ext>
            </a:extLst>
          </p:cNvPr>
          <p:cNvSpPr/>
          <p:nvPr userDrawn="1"/>
        </p:nvSpPr>
        <p:spPr>
          <a:xfrm>
            <a:off x="3718560" y="1181123"/>
            <a:ext cx="4754880" cy="4495754"/>
          </a:xfrm>
          <a:prstGeom prst="rect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49139" y="4859469"/>
            <a:ext cx="3924934" cy="490538"/>
          </a:xfrm>
          <a:prstGeom prst="rect">
            <a:avLst/>
          </a:prstGeom>
        </p:spPr>
        <p:txBody>
          <a:bodyPr/>
          <a:lstStyle>
            <a:lvl1pPr algn="r"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62BE5D7-9E35-49F8-A8E4-2093183A6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139" y="1529685"/>
            <a:ext cx="3924934" cy="1695637"/>
          </a:xfrm>
          <a:prstGeom prst="rect">
            <a:avLst/>
          </a:prstGeom>
        </p:spPr>
        <p:txBody>
          <a:bodyPr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39956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4/8/2026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8" name="Date Placeholder 3">
            <a:extLst>
              <a:ext uri="{FF2B5EF4-FFF2-40B4-BE49-F238E27FC236}">
                <a16:creationId xmlns:a16="http://schemas.microsoft.com/office/drawing/2014/main" id="{2CD6B789-4B66-4BD0-9623-80E9542A65FE}"/>
              </a:ext>
            </a:extLst>
          </p:cNvPr>
          <p:cNvSpPr txBox="1">
            <a:spLocks/>
          </p:cNvSpPr>
          <p:nvPr userDrawn="1"/>
        </p:nvSpPr>
        <p:spPr>
          <a:xfrm>
            <a:off x="660396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7BD5F78-1C10-49D6-8616-C9F20406C112}" type="datetime1">
              <a:rPr lang="en-US" sz="1100" smtClean="0">
                <a:solidFill>
                  <a:schemeClr val="accent2"/>
                </a:solidFill>
              </a:rPr>
              <a:pPr/>
              <a:t>4/8/2026</a:t>
            </a:fld>
            <a:endParaRPr lang="en-US" sz="1100" dirty="0">
              <a:solidFill>
                <a:schemeClr val="accent2"/>
              </a:solidFill>
            </a:endParaRPr>
          </a:p>
        </p:txBody>
      </p:sp>
      <p:sp>
        <p:nvSpPr>
          <p:cNvPr id="29" name="Footer Placeholder 4">
            <a:extLst>
              <a:ext uri="{FF2B5EF4-FFF2-40B4-BE49-F238E27FC236}">
                <a16:creationId xmlns:a16="http://schemas.microsoft.com/office/drawing/2014/main" id="{A3BB5234-44A4-4506-BD19-5808475EBB7F}"/>
              </a:ext>
            </a:extLst>
          </p:cNvPr>
          <p:cNvSpPr txBox="1">
            <a:spLocks/>
          </p:cNvSpPr>
          <p:nvPr userDrawn="1"/>
        </p:nvSpPr>
        <p:spPr>
          <a:xfrm>
            <a:off x="1445526" y="6378906"/>
            <a:ext cx="41148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100" b="1" dirty="0">
                <a:solidFill>
                  <a:schemeClr val="accent2"/>
                </a:solidFill>
              </a:rPr>
              <a:t>Annual Review</a:t>
            </a:r>
          </a:p>
        </p:txBody>
      </p:sp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68D89618-7EE9-46BF-BEAC-45E6F98ACA1A}"/>
              </a:ext>
            </a:extLst>
          </p:cNvPr>
          <p:cNvSpPr txBox="1">
            <a:spLocks/>
          </p:cNvSpPr>
          <p:nvPr userDrawn="1"/>
        </p:nvSpPr>
        <p:spPr>
          <a:xfrm>
            <a:off x="8805338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18C1E5-FB55-42F5-BD6D-9CC153FCDBE6}" type="slidenum">
              <a:rPr lang="en-US" sz="1100" smtClean="0">
                <a:solidFill>
                  <a:schemeClr val="accent4"/>
                </a:solidFill>
              </a:rPr>
              <a:pPr algn="r"/>
              <a:t>‹#›</a:t>
            </a:fld>
            <a:endParaRPr lang="en-US" sz="11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42590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50" r:id="rId3"/>
    <p:sldLayoutId id="2147483751" r:id="rId4"/>
    <p:sldLayoutId id="2147483752" r:id="rId5"/>
    <p:sldLayoutId id="2147483753" r:id="rId6"/>
    <p:sldLayoutId id="2147483754" r:id="rId7"/>
    <p:sldLayoutId id="2147483755" r:id="rId8"/>
    <p:sldLayoutId id="2147483756" r:id="rId9"/>
    <p:sldLayoutId id="2147483757" r:id="rId10"/>
    <p:sldLayoutId id="2147483758" r:id="rId11"/>
    <p:sldLayoutId id="2147483759" r:id="rId12"/>
    <p:sldLayoutId id="2147483760" r:id="rId13"/>
    <p:sldLayoutId id="2147483761" r:id="rId14"/>
    <p:sldLayoutId id="2147483762" r:id="rId15"/>
    <p:sldLayoutId id="2147483763" r:id="rId16"/>
    <p:sldLayoutId id="2147483764" r:id="rId17"/>
    <p:sldLayoutId id="2147483765" r:id="rId18"/>
    <p:sldLayoutId id="2147483766" r:id="rId19"/>
    <p:sldLayoutId id="2147483769" r:id="rId20"/>
    <p:sldLayoutId id="2147483690" r:id="rId2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f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Prajan2910/GUI-for-Network-Port-Scanner" TargetMode="External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201737A-B873-4D1D-8A41-5ABF5184BC8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76964" y="3794048"/>
            <a:ext cx="2734187" cy="409732"/>
          </a:xfrm>
        </p:spPr>
        <p:txBody>
          <a:bodyPr>
            <a:noAutofit/>
          </a:bodyPr>
          <a:lstStyle/>
          <a:p>
            <a:pPr algn="r"/>
            <a:r>
              <a:rPr lang="en-US" b="0" dirty="0">
                <a:solidFill>
                  <a:schemeClr val="tx1"/>
                </a:solidFill>
              </a:rPr>
              <a:t>Name - Prajan Kannan</a:t>
            </a:r>
            <a:endParaRPr lang="en-IN" b="0" dirty="0">
              <a:solidFill>
                <a:schemeClr val="tx1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2056599-CDAA-4367-BEF8-31D6E32518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4172" y="2589534"/>
            <a:ext cx="9354244" cy="1218364"/>
          </a:xfrm>
        </p:spPr>
        <p:txBody>
          <a:bodyPr>
            <a:noAutofit/>
          </a:bodyPr>
          <a:lstStyle/>
          <a:p>
            <a:r>
              <a:rPr lang="en-GB" sz="3600" dirty="0"/>
              <a:t>Project Title: </a:t>
            </a:r>
            <a:r>
              <a:rPr lang="en-US" sz="3600" dirty="0"/>
              <a:t>Network Port Scanner with Graphic User Interface</a:t>
            </a:r>
            <a:endParaRPr lang="en-IN" sz="3600" dirty="0"/>
          </a:p>
        </p:txBody>
      </p:sp>
      <p:sp>
        <p:nvSpPr>
          <p:cNvPr id="15" name="Text Placeholder 1">
            <a:extLst>
              <a:ext uri="{FF2B5EF4-FFF2-40B4-BE49-F238E27FC236}">
                <a16:creationId xmlns:a16="http://schemas.microsoft.com/office/drawing/2014/main" id="{824B8A32-9AB3-457E-82E1-C85D3203CE35}"/>
              </a:ext>
            </a:extLst>
          </p:cNvPr>
          <p:cNvSpPr txBox="1">
            <a:spLocks/>
          </p:cNvSpPr>
          <p:nvPr/>
        </p:nvSpPr>
        <p:spPr>
          <a:xfrm>
            <a:off x="6400800" y="2794001"/>
            <a:ext cx="3312160" cy="8614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1" kern="120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30DEFF0-8DEE-4B0B-9B30-675FE9E288A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7" name="Text Placeholder 1">
            <a:extLst>
              <a:ext uri="{FF2B5EF4-FFF2-40B4-BE49-F238E27FC236}">
                <a16:creationId xmlns:a16="http://schemas.microsoft.com/office/drawing/2014/main" id="{824B8A32-9AB3-457E-82E1-C85D3203CE35}"/>
              </a:ext>
            </a:extLst>
          </p:cNvPr>
          <p:cNvSpPr txBox="1">
            <a:spLocks/>
          </p:cNvSpPr>
          <p:nvPr/>
        </p:nvSpPr>
        <p:spPr>
          <a:xfrm>
            <a:off x="6553200" y="2946401"/>
            <a:ext cx="3312160" cy="8614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1" kern="120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400" dirty="0"/>
          </a:p>
        </p:txBody>
      </p:sp>
      <p:sp>
        <p:nvSpPr>
          <p:cNvPr id="8" name="Text Placeholder 1">
            <a:extLst>
              <a:ext uri="{FF2B5EF4-FFF2-40B4-BE49-F238E27FC236}">
                <a16:creationId xmlns:a16="http://schemas.microsoft.com/office/drawing/2014/main" id="{824B8A32-9AB3-457E-82E1-C85D3203CE35}"/>
              </a:ext>
            </a:extLst>
          </p:cNvPr>
          <p:cNvSpPr txBox="1">
            <a:spLocks/>
          </p:cNvSpPr>
          <p:nvPr/>
        </p:nvSpPr>
        <p:spPr>
          <a:xfrm>
            <a:off x="6705600" y="3098801"/>
            <a:ext cx="3312160" cy="8614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1" kern="120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400" dirty="0"/>
          </a:p>
        </p:txBody>
      </p:sp>
      <p:sp>
        <p:nvSpPr>
          <p:cNvPr id="3" name="Text Placeholder 1">
            <a:extLst>
              <a:ext uri="{FF2B5EF4-FFF2-40B4-BE49-F238E27FC236}">
                <a16:creationId xmlns:a16="http://schemas.microsoft.com/office/drawing/2014/main" id="{F66C6EBB-597F-CEA2-E411-D8210E2B116D}"/>
              </a:ext>
            </a:extLst>
          </p:cNvPr>
          <p:cNvSpPr txBox="1">
            <a:spLocks/>
          </p:cNvSpPr>
          <p:nvPr/>
        </p:nvSpPr>
        <p:spPr>
          <a:xfrm>
            <a:off x="174172" y="4807545"/>
            <a:ext cx="6531428" cy="4097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1" kern="120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b="0" dirty="0">
                <a:solidFill>
                  <a:schemeClr val="tx1"/>
                </a:solidFill>
              </a:rPr>
              <a:t>College Name – Vellore Institute of Technology, Chennai</a:t>
            </a:r>
            <a:endParaRPr lang="en-IN" b="0" dirty="0">
              <a:solidFill>
                <a:schemeClr val="tx1"/>
              </a:solidFill>
            </a:endParaRPr>
          </a:p>
        </p:txBody>
      </p:sp>
      <p:sp>
        <p:nvSpPr>
          <p:cNvPr id="9" name="Text Placeholder 1">
            <a:extLst>
              <a:ext uri="{FF2B5EF4-FFF2-40B4-BE49-F238E27FC236}">
                <a16:creationId xmlns:a16="http://schemas.microsoft.com/office/drawing/2014/main" id="{8D468F96-767D-7AE9-4D4B-514C52317D97}"/>
              </a:ext>
            </a:extLst>
          </p:cNvPr>
          <p:cNvSpPr txBox="1">
            <a:spLocks/>
          </p:cNvSpPr>
          <p:nvPr/>
        </p:nvSpPr>
        <p:spPr>
          <a:xfrm>
            <a:off x="176964" y="4294862"/>
            <a:ext cx="4898571" cy="4097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1" kern="120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b="0" dirty="0">
                <a:solidFill>
                  <a:schemeClr val="tx1"/>
                </a:solidFill>
              </a:rPr>
              <a:t>AICTE ID - STU66ee8be6e60f11726909414</a:t>
            </a:r>
            <a:endParaRPr lang="en-IN" b="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04013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3" presetClass="entr" presetSubtype="16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3" presetClass="entr" presetSubtype="16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53" presetClass="entr" presetSubtype="16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4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1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6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  <p:bldP spid="15" grpId="0"/>
      <p:bldP spid="7" grpId="0"/>
      <p:bldP spid="8" grpId="0"/>
      <p:bldP spid="3" grpId="0" build="p"/>
      <p:bldP spid="9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46E4DD1-270B-4C80-AFF0-EB26F132AF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49886" y="2080920"/>
            <a:ext cx="7145798" cy="4226663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2200" dirty="0"/>
              <a:t>Modern networks are vulnerable to unauthorized access due to open and unmonitored ports, making it difficult to identify potential security risks efficiently.</a:t>
            </a:r>
          </a:p>
          <a:p>
            <a:pPr>
              <a:lnSpc>
                <a:spcPct val="150000"/>
              </a:lnSpc>
            </a:pPr>
            <a:r>
              <a:rPr lang="en-US" sz="2200" dirty="0"/>
              <a:t>This project aims to develop an automated and user-friendly network port scanner to detect open ports and enhance network security assessment.</a:t>
            </a:r>
            <a:endParaRPr lang="en-IN" sz="220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77CC02B-F7C6-47A8-8C3E-C57C417D9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4602" y="904980"/>
            <a:ext cx="6995604" cy="790111"/>
          </a:xfrm>
        </p:spPr>
        <p:txBody>
          <a:bodyPr>
            <a:normAutofit fontScale="90000"/>
          </a:bodyPr>
          <a:lstStyle/>
          <a:p>
            <a:r>
              <a:rPr lang="en-US" dirty="0"/>
              <a:t>PROBLEM  STATEMENT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FE02DE-D7B2-433D-BFE4-2F564022AD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5684" y="2930834"/>
            <a:ext cx="2760758" cy="326440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36DEFE3-051A-494A-949C-BB2FF86F9ED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8548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BF2FBC7-3552-4F01-BB27-8BEEE74F7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7949" y="872325"/>
            <a:ext cx="6276109" cy="830997"/>
          </a:xfrm>
        </p:spPr>
        <p:txBody>
          <a:bodyPr>
            <a:normAutofit/>
          </a:bodyPr>
          <a:lstStyle/>
          <a:p>
            <a:r>
              <a:rPr lang="en-GB" dirty="0"/>
              <a:t>Project Description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D8A2BA-6C1D-4A33-85F2-E44A4FF54A1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BED3D6A-DC10-4985-B01B-735F2CBA6E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sp>
        <p:nvSpPr>
          <p:cNvPr id="8" name="Rectangle 3">
            <a:extLst>
              <a:ext uri="{FF2B5EF4-FFF2-40B4-BE49-F238E27FC236}">
                <a16:creationId xmlns:a16="http://schemas.microsoft.com/office/drawing/2014/main" id="{CCB2DECB-6A0A-9FB8-E722-14E315C2893C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467359" y="1636210"/>
            <a:ext cx="10763349" cy="40934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This project focuses on the design and development of a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TCP-based network port scanner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with an intuitive graphical user interface using Python and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Tkinter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system performs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automated scanning of a specified range of ports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on a target host to identify open and potentially vulnerable communication endpoints. </a:t>
            </a: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 incorporates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multi-threading techniques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significantly enhance scanning speed and efficiency, enabling concurrent port analysis. </a:t>
            </a: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application includes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service identification mechanisms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mapping common port numbers to standard network services such as HTTP, FTP, and SSH. </a:t>
            </a: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real-time monitoring interface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is implemented, providing live progress updates, scan status, and elapsed time for improved user interaction. </a:t>
            </a: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tool supports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result visualization and export functionality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allowing users to save detected open ports for further security analysis and reporting. </a:t>
            </a:r>
          </a:p>
        </p:txBody>
      </p:sp>
    </p:spTree>
    <p:extLst>
      <p:ext uri="{BB962C8B-B14F-4D97-AF65-F5344CB8AC3E}">
        <p14:creationId xmlns:p14="http://schemas.microsoft.com/office/powerpoint/2010/main" val="3696770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A4A072B-83C6-4607-AE6A-5AD61CC72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1359" y="1219704"/>
            <a:ext cx="10046070" cy="802641"/>
          </a:xfrm>
        </p:spPr>
        <p:txBody>
          <a:bodyPr>
            <a:normAutofit/>
          </a:bodyPr>
          <a:lstStyle/>
          <a:p>
            <a:r>
              <a:rPr lang="en-US" sz="3200" dirty="0"/>
              <a:t>WHO ARE THE END USERS?</a:t>
            </a:r>
            <a:endParaRPr lang="en-IN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8B153BB-61B9-403F-8AE5-F75400450A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359" y="6176804"/>
            <a:ext cx="2181225" cy="485775"/>
          </a:xfrm>
          <a:prstGeom prst="rect">
            <a:avLst/>
          </a:prstGeom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id="{06456ECE-5CCE-6B52-D94A-DFFC2D3CB2C1}"/>
              </a:ext>
            </a:extLst>
          </p:cNvPr>
          <p:cNvSpPr>
            <a:spLocks noGrp="1" noChangeArrowheads="1"/>
          </p:cNvSpPr>
          <p:nvPr>
            <p:ph type="body" sz="quarter" idx="12"/>
          </p:nvPr>
        </p:nvSpPr>
        <p:spPr bwMode="auto">
          <a:xfrm>
            <a:off x="721359" y="2022346"/>
            <a:ext cx="10444388" cy="41544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Network Administrators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Monitor and manage network security by identifying open ports and unauthorized services.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Cybersecurity Professionals / Ethical Hackers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Perform vulnerability assessment and penetration testing to secure systems.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System Administrators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Ensure proper configuration of servers and detect unnecessary open ports.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 Support Teams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Troubleshoot network connectivity issues and service availability.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Students &amp; Researchers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Learn networking concepts, port communication, and security practices.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Organizations / Enterprises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Protect internal networks from external threats and maintain secure infrastructure.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Developers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Test applications and verify whether required ports/services are running correctly. </a:t>
            </a:r>
          </a:p>
        </p:txBody>
      </p:sp>
    </p:spTree>
    <p:extLst>
      <p:ext uri="{BB962C8B-B14F-4D97-AF65-F5344CB8AC3E}">
        <p14:creationId xmlns:p14="http://schemas.microsoft.com/office/powerpoint/2010/main" val="48075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B7C27C4-3E14-490A-B132-CBBEDA1E90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FEF304F5-32C5-4869-B185-859B56785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359" y="430567"/>
            <a:ext cx="6596078" cy="847817"/>
          </a:xfrm>
        </p:spPr>
        <p:txBody>
          <a:bodyPr>
            <a:normAutofit fontScale="90000"/>
          </a:bodyPr>
          <a:lstStyle/>
          <a:p>
            <a:r>
              <a:rPr lang="en-US" dirty="0"/>
              <a:t>Technology &amp; Tools Used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A46794D4-E3FE-F045-837A-53BB0267BEFA}"/>
              </a:ext>
            </a:extLst>
          </p:cNvPr>
          <p:cNvSpPr>
            <a:spLocks noGrp="1" noChangeArrowheads="1"/>
          </p:cNvSpPr>
          <p:nvPr>
            <p:ph type="body" sz="quarter" idx="12"/>
          </p:nvPr>
        </p:nvSpPr>
        <p:spPr bwMode="auto">
          <a:xfrm>
            <a:off x="467359" y="1278384"/>
            <a:ext cx="10951391" cy="53245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Python (Core Language)</a:t>
            </a:r>
            <a:b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Used to implement the complete application logic including networking, threading, and GUI development.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7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Tkinter</a:t>
            </a: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(GUI Framework)</a:t>
            </a:r>
            <a:b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Provides the graphical user interface components such as input fields, buttons, progress bar, and result display using </a:t>
            </a:r>
            <a:r>
              <a:rPr kumimoji="0" lang="en-US" altLang="en-US" sz="17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Treeview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Socket Programming (socket module)</a:t>
            </a:r>
            <a:b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Enables TCP-based communication to scan and detect open ports on the target system.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Multithreading (threading module)</a:t>
            </a:r>
            <a:b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Used to perform concurrent port scanning, improving speed and efficiency by handling multiple ports simultaneously.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Queue (queue module)</a:t>
            </a:r>
            <a:b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Ensures thread-safe communication between background scanning threads and the GUI for real-time updates.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Time &amp; Date Handling (time, datetime modules)</a:t>
            </a:r>
            <a:b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Used for tracking scan duration, timestamps, and logging scan activities.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File Handling (built-in I/O)</a:t>
            </a:r>
            <a:b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Enables saving scan results into 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.txt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or 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.csv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files for further analysis. </a:t>
            </a:r>
            <a:endParaRPr kumimoji="0" lang="en-US" altLang="en-US" sz="1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Development Tools – VS Code / PyCharm</a:t>
            </a:r>
            <a:b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Used for coding, debugging, and testing the application.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Version Control – Git &amp; GitHub</a:t>
            </a:r>
            <a:b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Used to manage source code, track changes, and host the project repository. </a:t>
            </a:r>
          </a:p>
        </p:txBody>
      </p:sp>
    </p:spTree>
    <p:extLst>
      <p:ext uri="{BB962C8B-B14F-4D97-AF65-F5344CB8AC3E}">
        <p14:creationId xmlns:p14="http://schemas.microsoft.com/office/powerpoint/2010/main" val="1341901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BB0C869-7C5C-4070-BD4D-F3FC2DA8F3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AFE3A2AF-177E-45E6-A191-0F8523DB7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04655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372426BE-BEE7-4A6D-BCD2-059615BBCE25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638269F-3EA1-E19E-EE5E-4BC3C79619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1658" y="1275371"/>
            <a:ext cx="6678024" cy="5277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6225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1D1198-31A5-C95D-961B-EF827EA9CD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FA800BE-41FE-B2C1-083D-37B11C79938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0DCDC4CB-51D5-1530-9B7D-7B9155C57F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04655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127CA230-0671-A7A1-0F81-66B07B9EC401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22A23CF-ED2B-6EB8-41BE-11064FD56E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693" y="1989973"/>
            <a:ext cx="9900503" cy="2926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76953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FCA060-5D96-4C8D-0F81-B551D1CA4A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469A01F-4B4D-58D5-E5C9-BA1139905E6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051F336F-7519-ADF6-5AAD-912BE071DD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04655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4F690153-18FD-219D-2A8E-D6FE784732FC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B8EF78B-3512-A3E6-319D-83EF99CE66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362" y="1371447"/>
            <a:ext cx="5775868" cy="454416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41472DB-5A79-30C2-7B5D-C9965D98A5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3772" y="1371447"/>
            <a:ext cx="5775868" cy="4536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91289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3">
            <a:extLst>
              <a:ext uri="{FF2B5EF4-FFF2-40B4-BE49-F238E27FC236}">
                <a16:creationId xmlns:a16="http://schemas.microsoft.com/office/drawing/2014/main" id="{AFE3A2AF-177E-45E6-A191-0F8523DB7FFA}"/>
              </a:ext>
            </a:extLst>
          </p:cNvPr>
          <p:cNvSpPr txBox="1">
            <a:spLocks/>
          </p:cNvSpPr>
          <p:nvPr/>
        </p:nvSpPr>
        <p:spPr>
          <a:xfrm>
            <a:off x="151792" y="310553"/>
            <a:ext cx="8671243" cy="830997"/>
          </a:xfrm>
          <a:prstGeom prst="rect">
            <a:avLst/>
          </a:prstGeom>
        </p:spPr>
        <p:txBody>
          <a:bodyPr>
            <a:normAutofit fontScale="85000" lnSpcReduction="1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IN" b="1" dirty="0">
                <a:solidFill>
                  <a:schemeClr val="tx1"/>
                </a:solidFill>
              </a:rPr>
              <a:t>Certificate - Protection from browser attacks</a:t>
            </a:r>
            <a:r>
              <a:rPr lang="en-GB" b="1" dirty="0">
                <a:solidFill>
                  <a:schemeClr val="tx1"/>
                </a:solidFill>
              </a:rPr>
              <a:t> </a:t>
            </a:r>
            <a:endParaRPr lang="en-IN" b="1" dirty="0">
              <a:solidFill>
                <a:schemeClr val="tx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1BC0930-A5F2-71A7-97B6-59CEE83FBF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4000" y="939995"/>
            <a:ext cx="7624000" cy="5363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97956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3">
            <a:extLst>
              <a:ext uri="{FF2B5EF4-FFF2-40B4-BE49-F238E27FC236}">
                <a16:creationId xmlns:a16="http://schemas.microsoft.com/office/drawing/2014/main" id="{AFE3A2AF-177E-45E6-A191-0F8523DB7FFA}"/>
              </a:ext>
            </a:extLst>
          </p:cNvPr>
          <p:cNvSpPr txBox="1">
            <a:spLocks/>
          </p:cNvSpPr>
          <p:nvPr/>
        </p:nvSpPr>
        <p:spPr>
          <a:xfrm>
            <a:off x="168332" y="424335"/>
            <a:ext cx="8671243" cy="830997"/>
          </a:xfrm>
          <a:prstGeom prst="rect">
            <a:avLst/>
          </a:prstGeom>
        </p:spPr>
        <p:txBody>
          <a:bodyPr>
            <a:normAutofit fontScale="85000" lnSpcReduction="1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IN" b="1" dirty="0">
                <a:solidFill>
                  <a:schemeClr val="tx1"/>
                </a:solidFill>
              </a:rPr>
              <a:t>Certificate - Introduction to System Security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B43E7D9-2B4E-02BA-2008-B827E00756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0763" y="988305"/>
            <a:ext cx="7610474" cy="5365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45123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D88C20CF-C1EE-4092-B52D-FD4AB2AB25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2799685"/>
            <a:ext cx="11340000" cy="700114"/>
          </a:xfrm>
          <a:prstGeom prst="rect">
            <a:avLst/>
          </a:prstGeom>
        </p:spPr>
        <p:txBody>
          <a:bodyPr anchor="ctr">
            <a:normAutofit fontScale="90000"/>
          </a:bodyPr>
          <a:lstStyle/>
          <a:p>
            <a:pPr algn="ctr"/>
            <a:r>
              <a:rPr lang="en-US" sz="4800" b="1" dirty="0">
                <a:solidFill>
                  <a:schemeClr val="tx1"/>
                </a:solidFill>
              </a:rPr>
              <a:t>Thank you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97AB1F14-3A1E-4057-A473-9975BA59F01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27865" y="4641925"/>
            <a:ext cx="2139695" cy="1108635"/>
          </a:xfrm>
        </p:spPr>
        <p:txBody>
          <a:bodyPr>
            <a:normAutofit/>
          </a:bodyPr>
          <a:lstStyle/>
          <a:p>
            <a:r>
              <a:rPr lang="en-US" dirty="0"/>
              <a:t>.</a:t>
            </a:r>
          </a:p>
        </p:txBody>
      </p:sp>
      <p:sp>
        <p:nvSpPr>
          <p:cNvPr id="17" name="Text Placeholder 28">
            <a:extLst>
              <a:ext uri="{FF2B5EF4-FFF2-40B4-BE49-F238E27FC236}">
                <a16:creationId xmlns:a16="http://schemas.microsoft.com/office/drawing/2014/main" id="{E212CE24-374D-44D0-8F39-0F5A36E42ED7}"/>
              </a:ext>
            </a:extLst>
          </p:cNvPr>
          <p:cNvSpPr txBox="1">
            <a:spLocks/>
          </p:cNvSpPr>
          <p:nvPr/>
        </p:nvSpPr>
        <p:spPr>
          <a:xfrm>
            <a:off x="1011605" y="4641924"/>
            <a:ext cx="9711909" cy="146628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>
                <a:solidFill>
                  <a:schemeClr val="tx1"/>
                </a:solidFill>
              </a:rPr>
              <a:t>I sincerely thank everyone who supported and guided me throughout the development of this project “Network Port Scanner”, contributing to its successful completion.</a:t>
            </a:r>
          </a:p>
          <a:p>
            <a:r>
              <a:rPr lang="en-US" sz="1800" dirty="0">
                <a:solidFill>
                  <a:schemeClr val="tx1"/>
                </a:solidFill>
              </a:rPr>
              <a:t>I am grateful for the opportunity to learn and apply my knowledge in Cybersecurity.</a:t>
            </a:r>
            <a:endParaRPr lang="en-IN" sz="1800" dirty="0">
              <a:solidFill>
                <a:schemeClr val="tx1"/>
              </a:solidFill>
            </a:endParaRPr>
          </a:p>
        </p:txBody>
      </p:sp>
      <p:sp>
        <p:nvSpPr>
          <p:cNvPr id="20" name="Text Placeholder 28">
            <a:extLst>
              <a:ext uri="{FF2B5EF4-FFF2-40B4-BE49-F238E27FC236}">
                <a16:creationId xmlns:a16="http://schemas.microsoft.com/office/drawing/2014/main" id="{A09A5BC1-0E62-4E6B-A590-951A87D4B4FE}"/>
              </a:ext>
            </a:extLst>
          </p:cNvPr>
          <p:cNvSpPr txBox="1">
            <a:spLocks/>
          </p:cNvSpPr>
          <p:nvPr/>
        </p:nvSpPr>
        <p:spPr>
          <a:xfrm>
            <a:off x="5353508" y="3962573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23" name="Text Placeholder 28">
            <a:extLst>
              <a:ext uri="{FF2B5EF4-FFF2-40B4-BE49-F238E27FC236}">
                <a16:creationId xmlns:a16="http://schemas.microsoft.com/office/drawing/2014/main" id="{9E6B148F-F3B6-4E6B-9B85-645C039858E8}"/>
              </a:ext>
            </a:extLst>
          </p:cNvPr>
          <p:cNvSpPr txBox="1">
            <a:spLocks/>
          </p:cNvSpPr>
          <p:nvPr/>
        </p:nvSpPr>
        <p:spPr>
          <a:xfrm>
            <a:off x="7789163" y="3962572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B993AB29-3A3A-4473-8AC8-86E859C97321}"/>
              </a:ext>
            </a:extLst>
          </p:cNvPr>
          <p:cNvSpPr txBox="1">
            <a:spLocks/>
          </p:cNvSpPr>
          <p:nvPr/>
        </p:nvSpPr>
        <p:spPr>
          <a:xfrm>
            <a:off x="8591363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D3F9E86-2FB3-4DB3-9343-59D594F350A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BC277FD7-925B-4C3D-A364-11840320150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370656" y="1107440"/>
            <a:ext cx="6993806" cy="810293"/>
          </a:xfrm>
        </p:spPr>
        <p:txBody>
          <a:bodyPr>
            <a:normAutofit/>
          </a:bodyPr>
          <a:lstStyle/>
          <a:p>
            <a:r>
              <a:rPr lang="en-IN" dirty="0" err="1">
                <a:solidFill>
                  <a:schemeClr val="tx1"/>
                </a:solidFill>
              </a:rPr>
              <a:t>Github</a:t>
            </a:r>
            <a:r>
              <a:rPr lang="en-IN" dirty="0">
                <a:solidFill>
                  <a:schemeClr val="tx1"/>
                </a:solidFill>
              </a:rPr>
              <a:t> Link : </a:t>
            </a:r>
            <a:r>
              <a:rPr lang="en-IN" dirty="0">
                <a:solidFill>
                  <a:srgbClr val="0070C0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https://github.com/Prajan2910/GUI-for-Network-Port-Scanner</a:t>
            </a:r>
            <a:endParaRPr lang="en-IN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01748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1" grpId="0" build="p"/>
      <p:bldP spid="17" grpId="0"/>
      <p:bldP spid="20" grpId="0"/>
      <p:bldP spid="23" grpId="0"/>
      <p:bldP spid="32" grpId="0"/>
    </p:bld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B19EB750-A6DA-4BE8-B87B-FC499FE7336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05D99ABA-76CE-4A8E-B5F0-C051B96628D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DEA9014-ED64-4558-B1E1-D03F0EE32BEB}">
  <ds:schemaRefs>
    <ds:schemaRef ds:uri="http://purl.org/dc/elements/1.1/"/>
    <ds:schemaRef ds:uri="16c05727-aa75-4e4a-9b5f-8a80a1165891"/>
    <ds:schemaRef ds:uri="http://schemas.microsoft.com/office/2006/metadata/properties"/>
    <ds:schemaRef ds:uri="http://purl.org/dc/terms/"/>
    <ds:schemaRef ds:uri="71af3243-3dd4-4a8d-8c0d-dd76da1f02a5"/>
    <ds:schemaRef ds:uri="http://purl.org/dc/dcmitype/"/>
    <ds:schemaRef ds:uri="http://www.w3.org/XML/1998/namespac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734</TotalTime>
  <Words>602</Words>
  <Application>Microsoft Office PowerPoint</Application>
  <PresentationFormat>Widescreen</PresentationFormat>
  <Paragraphs>45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Arial</vt:lpstr>
      <vt:lpstr>Arial Unicode MS</vt:lpstr>
      <vt:lpstr>Calibri</vt:lpstr>
      <vt:lpstr>Trebuchet MS</vt:lpstr>
      <vt:lpstr>Wingdings</vt:lpstr>
      <vt:lpstr>Wingdings 3</vt:lpstr>
      <vt:lpstr>Facet</vt:lpstr>
      <vt:lpstr>Project Title: Network Port Scanner with Graphic User Interface</vt:lpstr>
      <vt:lpstr>PROBLEM  STATEMENT</vt:lpstr>
      <vt:lpstr>Project Description</vt:lpstr>
      <vt:lpstr>WHO ARE THE END USERS?</vt:lpstr>
      <vt:lpstr>Technology &amp; Tools Used</vt:lpstr>
      <vt:lpstr>RESULTS </vt:lpstr>
      <vt:lpstr>RESULTS </vt:lpstr>
      <vt:lpstr>RESULTS </vt:lpstr>
      <vt:lpstr>PowerPoint Presentation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MASKED HUNTERS</dc:title>
  <dc:creator>Venkataswamy</dc:creator>
  <cp:lastModifiedBy>Prajan K</cp:lastModifiedBy>
  <cp:revision>109</cp:revision>
  <dcterms:created xsi:type="dcterms:W3CDTF">2021-07-11T13:13:15Z</dcterms:created>
  <dcterms:modified xsi:type="dcterms:W3CDTF">2026-04-08T17:24:29Z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